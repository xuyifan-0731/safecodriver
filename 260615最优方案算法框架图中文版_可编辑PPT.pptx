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/>
          <p:nvPr/>
        </p:nvSpPr>
        <p:spPr>
          <a:xfrm>
            <a:off x="487680" y="257175"/>
            <a:ext cx="6096000" cy="2816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8FAFC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新版：漏斗收敛 + 创新点侧注</a:t>
            </a:r>
            <a:endParaRPr lang="zh-CN" sz="2400"/>
          </a:p>
        </p:txBody>
      </p:sp>
      <p:sp>
        <p:nvSpPr>
          <p:cNvPr id="4" name="TextBox"/>
          <p:cNvSpPr/>
          <p:nvPr/>
        </p:nvSpPr>
        <p:spPr>
          <a:xfrm>
            <a:off x="501227" y="526596"/>
            <a:ext cx="7044267" cy="18369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8FAFC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四层漏斗从宽泛输入逐步收敛到精确动作；两侧方框说明对应创新点。</a:t>
            </a:r>
            <a:endParaRPr lang="zh-CN" sz="1200"/>
          </a:p>
        </p:txBody>
      </p:sp>
      <p:sp>
        <p:nvSpPr>
          <p:cNvPr id="5" name="主画布"/>
          <p:cNvSpPr/>
          <p:nvPr/>
        </p:nvSpPr>
        <p:spPr>
          <a:xfrm>
            <a:off x="474133" y="887866"/>
            <a:ext cx="11243733" cy="53578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6" name="TextBox"/>
          <p:cNvSpPr/>
          <p:nvPr/>
        </p:nvSpPr>
        <p:spPr>
          <a:xfrm>
            <a:off x="4402667" y="1089932"/>
            <a:ext cx="3386667" cy="19594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lIns="91440" tIns="54864" rIns="91440" bIns="54864"/>
          <a:lstStyle/>
          <a:p>
            <a:pPr algn="ctr"/>
            <a:r>
              <a:rPr lang="zh-CN" sz="2000" b="1">
                <a:solidFill>
                  <a:srgbClr val="0F172A"/>
                </a:solidFill>
                <a:latin typeface="Microsoft YaHei"/>
                <a:ea typeface="Microsoft YaHei"/>
              </a:rPr>
              <a:t>由宽到窄的安全约束收敛</a:t>
            </a:r>
            <a:endParaRPr lang="zh-CN" sz="2000"/>
          </a:p>
        </p:txBody>
      </p:sp>
      <p:sp>
        <p:nvSpPr>
          <p:cNvPr id="7" name="TextBox"/>
          <p:cNvSpPr/>
          <p:nvPr/>
        </p:nvSpPr>
        <p:spPr>
          <a:xfrm>
            <a:off x="4233333" y="1310368"/>
            <a:ext cx="3725333" cy="1714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lIns="91440" tIns="54864" rIns="91440" bIns="54864"/>
          <a:lstStyle/>
          <a:p>
            <a:pPr algn="ctr"/>
            <a:r>
              <a:rPr lang="zh-CN" sz="1200" b="1">
                <a:solidFill>
                  <a:srgbClr val="475569"/>
                </a:solidFill>
                <a:latin typeface="Microsoft YaHei"/>
                <a:ea typeface="Microsoft YaHei"/>
              </a:rPr>
              <a:t>候选输入 → 可行路点 → 可靠触发 → 方向性动作</a:t>
            </a:r>
            <a:endParaRPr lang="zh-CN" sz="1200"/>
          </a:p>
        </p:txBody>
      </p:sp>
      <p:sp>
        <p:nvSpPr>
          <p:cNvPr id="8" name="漏斗外轮廓"/>
          <p:cNvSpPr/>
          <p:nvPr/>
        </p:nvSpPr>
        <p:spPr>
          <a:xfrm>
            <a:off x="2235200" y="1622652"/>
            <a:ext cx="7721600" cy="3275920"/>
          </a:xfrm>
          <a:prstGeom prst="trapezoid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9" name="1. 候选输入空间"/>
          <p:cNvSpPr/>
          <p:nvPr/>
        </p:nvSpPr>
        <p:spPr>
          <a:xfrm>
            <a:off x="2777067" y="1775732"/>
            <a:ext cx="6637867" cy="477611"/>
          </a:xfrm>
          <a:prstGeom prst="roundRect">
            <a:avLst/>
          </a:prstGeom>
          <a:solidFill>
            <a:srgbClr val="EFF6FF"/>
          </a:solidFill>
          <a:ln w="21590">
            <a:solidFill>
              <a:srgbClr val="2563EB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10" name="TextBox"/>
          <p:cNvSpPr/>
          <p:nvPr/>
        </p:nvSpPr>
        <p:spPr>
          <a:xfrm>
            <a:off x="2966720" y="1879827"/>
            <a:ext cx="6231467" cy="14695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FF6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1. 候选输入空间</a:t>
            </a:r>
            <a:endParaRPr lang="zh-CN" sz="1500"/>
          </a:p>
        </p:txBody>
      </p:sp>
      <p:sp>
        <p:nvSpPr>
          <p:cNvPr id="11" name="TextBox"/>
          <p:cNvSpPr/>
          <p:nvPr/>
        </p:nvSpPr>
        <p:spPr>
          <a:xfrm>
            <a:off x="2966720" y="2051277"/>
            <a:ext cx="6231467" cy="134711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FF6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000" b="1">
                <a:solidFill>
                  <a:srgbClr val="334155"/>
                </a:solidFill>
                <a:latin typeface="Microsoft YaHei"/>
                <a:ea typeface="Microsoft YaHei"/>
              </a:rPr>
              <a:t>协同感知对象、V2X-only 目标、上游规划路点</a:t>
            </a:r>
            <a:endParaRPr lang="zh-CN" sz="1000"/>
          </a:p>
        </p:txBody>
      </p:sp>
      <p:sp>
        <p:nvSpPr>
          <p:cNvPr id="12" name="2. 几何可行路点空间"/>
          <p:cNvSpPr/>
          <p:nvPr/>
        </p:nvSpPr>
        <p:spPr>
          <a:xfrm>
            <a:off x="3183467" y="2479902"/>
            <a:ext cx="5825067" cy="477611"/>
          </a:xfrm>
          <a:prstGeom prst="roundRect">
            <a:avLst/>
          </a:prstGeom>
          <a:solidFill>
            <a:srgbClr val="FFF7ED"/>
          </a:solidFill>
          <a:ln w="21590">
            <a:solidFill>
              <a:srgbClr val="EA580C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13" name="TextBox"/>
          <p:cNvSpPr/>
          <p:nvPr/>
        </p:nvSpPr>
        <p:spPr>
          <a:xfrm>
            <a:off x="3373120" y="2583996"/>
            <a:ext cx="5418667" cy="146957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F7ED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500" b="1">
                <a:solidFill>
                  <a:srgbClr val="EA580C"/>
                </a:solidFill>
                <a:latin typeface="Microsoft YaHei"/>
                <a:ea typeface="Microsoft YaHei"/>
              </a:rPr>
              <a:t>2. 几何可行路点空间</a:t>
            </a:r>
            <a:endParaRPr lang="zh-CN" sz="1500"/>
          </a:p>
        </p:txBody>
      </p:sp>
      <p:sp>
        <p:nvSpPr>
          <p:cNvPr id="14" name="TextBox"/>
          <p:cNvSpPr/>
          <p:nvPr/>
        </p:nvSpPr>
        <p:spPr>
          <a:xfrm>
            <a:off x="3373120" y="2755446"/>
            <a:ext cx="5418667" cy="134711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F7ED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000" b="1">
                <a:solidFill>
                  <a:srgbClr val="334155"/>
                </a:solidFill>
                <a:latin typeface="Microsoft YaHei"/>
                <a:ea typeface="Microsoft YaHei"/>
              </a:rPr>
              <a:t>可见性边界 + 接近速度放大 + 多目标排斥，先把路点推出危险区</a:t>
            </a:r>
            <a:endParaRPr lang="zh-CN" sz="1000"/>
          </a:p>
        </p:txBody>
      </p:sp>
      <p:sp>
        <p:nvSpPr>
          <p:cNvPr id="15" name="3. 低误报触发空间"/>
          <p:cNvSpPr/>
          <p:nvPr/>
        </p:nvSpPr>
        <p:spPr>
          <a:xfrm>
            <a:off x="3657600" y="3184071"/>
            <a:ext cx="4876800" cy="477611"/>
          </a:xfrm>
          <a:prstGeom prst="roundRect">
            <a:avLst/>
          </a:prstGeom>
          <a:solidFill>
            <a:srgbClr val="F5F3FF"/>
          </a:solidFill>
          <a:ln w="21590">
            <a:solidFill>
              <a:srgbClr val="7C3AED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16" name="TextBox"/>
          <p:cNvSpPr/>
          <p:nvPr/>
        </p:nvSpPr>
        <p:spPr>
          <a:xfrm>
            <a:off x="3847253" y="3288166"/>
            <a:ext cx="4470400" cy="146957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F5F3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500" b="1">
                <a:solidFill>
                  <a:srgbClr val="7C3AED"/>
                </a:solidFill>
                <a:latin typeface="Microsoft YaHei"/>
                <a:ea typeface="Microsoft YaHei"/>
              </a:rPr>
              <a:t>3. 低误报触发空间</a:t>
            </a:r>
            <a:endParaRPr lang="zh-CN" sz="1500"/>
          </a:p>
        </p:txBody>
      </p:sp>
      <p:sp>
        <p:nvSpPr>
          <p:cNvPr id="17" name="TextBox"/>
          <p:cNvSpPr/>
          <p:nvPr/>
        </p:nvSpPr>
        <p:spPr>
          <a:xfrm>
            <a:off x="3847253" y="3459616"/>
            <a:ext cx="4470400" cy="134711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F5F3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000" b="1">
                <a:solidFill>
                  <a:srgbClr val="334155"/>
                </a:solidFill>
                <a:latin typeface="Microsoft YaHei"/>
                <a:ea typeface="Microsoft YaHei"/>
              </a:rPr>
              <a:t>检测-修正解耦；AND 降噪；front_ttc&lt;3s 保留紧急响应</a:t>
            </a:r>
            <a:endParaRPr lang="zh-CN" sz="1000"/>
          </a:p>
        </p:txBody>
      </p:sp>
      <p:sp>
        <p:nvSpPr>
          <p:cNvPr id="18" name="4. 方向性安全动作空间"/>
          <p:cNvSpPr/>
          <p:nvPr/>
        </p:nvSpPr>
        <p:spPr>
          <a:xfrm>
            <a:off x="4199467" y="3888241"/>
            <a:ext cx="3793067" cy="477611"/>
          </a:xfrm>
          <a:prstGeom prst="roundRect">
            <a:avLst/>
          </a:prstGeom>
          <a:solidFill>
            <a:srgbClr val="ECFDF5"/>
          </a:solidFill>
          <a:ln w="21590">
            <a:solidFill>
              <a:srgbClr val="059669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19" name="TextBox"/>
          <p:cNvSpPr/>
          <p:nvPr/>
        </p:nvSpPr>
        <p:spPr>
          <a:xfrm>
            <a:off x="4389120" y="3992336"/>
            <a:ext cx="3386667" cy="146957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CFDF5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500" b="1">
                <a:solidFill>
                  <a:srgbClr val="059669"/>
                </a:solidFill>
                <a:latin typeface="Microsoft YaHei"/>
                <a:ea typeface="Microsoft YaHei"/>
              </a:rPr>
              <a:t>4. 方向性安全动作空间</a:t>
            </a:r>
            <a:endParaRPr lang="zh-CN" sz="1500"/>
          </a:p>
        </p:txBody>
      </p:sp>
      <p:sp>
        <p:nvSpPr>
          <p:cNvPr id="20" name="TextBox"/>
          <p:cNvSpPr/>
          <p:nvPr/>
        </p:nvSpPr>
        <p:spPr>
          <a:xfrm>
            <a:off x="4389120" y="4163786"/>
            <a:ext cx="3386667" cy="134711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CFDF5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000" b="1">
                <a:solidFill>
                  <a:srgbClr val="334155"/>
                </a:solidFill>
                <a:latin typeface="Microsoft YaHei"/>
                <a:ea typeface="Microsoft YaHei"/>
              </a:rPr>
              <a:t>front/rear 风险分解；后车压力触发保持速度 + 横向逃逸</a:t>
            </a:r>
            <a:endParaRPr lang="zh-CN" sz="1000"/>
          </a:p>
        </p:txBody>
      </p:sp>
      <p:sp>
        <p:nvSpPr>
          <p:cNvPr id="21" name="Arrow"/>
          <p:cNvSpPr/>
          <p:nvPr/>
        </p:nvSpPr>
        <p:spPr>
          <a:xfrm>
            <a:off x="6096000" y="2253343"/>
            <a:ext cx="6773" cy="226559"/>
          </a:xfrm>
          <a:prstGeom prst="line">
            <a:avLst/>
          </a:prstGeom>
          <a:ln w="22860">
            <a:solidFill>
              <a:srgbClr val="94A3B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2" name="Arrow"/>
          <p:cNvSpPr/>
          <p:nvPr/>
        </p:nvSpPr>
        <p:spPr>
          <a:xfrm>
            <a:off x="6096000" y="2957512"/>
            <a:ext cx="6773" cy="226559"/>
          </a:xfrm>
          <a:prstGeom prst="line">
            <a:avLst/>
          </a:prstGeom>
          <a:ln w="22860">
            <a:solidFill>
              <a:srgbClr val="94A3B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3" name="Arrow"/>
          <p:cNvSpPr/>
          <p:nvPr/>
        </p:nvSpPr>
        <p:spPr>
          <a:xfrm>
            <a:off x="6096000" y="3661682"/>
            <a:ext cx="6773" cy="226559"/>
          </a:xfrm>
          <a:prstGeom prst="line">
            <a:avLst/>
          </a:prstGeom>
          <a:ln w="22860">
            <a:solidFill>
              <a:srgbClr val="94A3B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4" name="最终安全约束输出"/>
          <p:cNvSpPr/>
          <p:nvPr/>
        </p:nvSpPr>
        <p:spPr>
          <a:xfrm>
            <a:off x="4673600" y="4561795"/>
            <a:ext cx="2844800" cy="391886"/>
          </a:xfrm>
          <a:prstGeom prst="roundRect">
            <a:avLst/>
          </a:prstGeom>
          <a:solidFill>
            <a:srgbClr val="FEF2F2"/>
          </a:solidFill>
          <a:ln w="21590">
            <a:solidFill>
              <a:srgbClr val="DC2626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25" name="TextBox"/>
          <p:cNvSpPr/>
          <p:nvPr/>
        </p:nvSpPr>
        <p:spPr>
          <a:xfrm>
            <a:off x="4809067" y="4672012"/>
            <a:ext cx="2573867" cy="159204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F2F2"/>
            </a:solidFill>
          </a:ln>
        </p:spPr>
        <p:txBody>
          <a:bodyPr wrap="square" lIns="91440" tIns="54864" rIns="91440" bIns="54864"/>
          <a:lstStyle/>
          <a:p>
            <a:pPr algn="ctr"/>
            <a:r>
              <a:rPr lang="zh-CN" sz="1600" b="1">
                <a:solidFill>
                  <a:srgbClr val="991B1B"/>
                </a:solidFill>
                <a:latin typeface="Microsoft YaHei"/>
                <a:ea typeface="Microsoft YaHei"/>
              </a:rPr>
              <a:t>最终安全约束输出</a:t>
            </a:r>
            <a:endParaRPr lang="zh-CN" sz="1600"/>
          </a:p>
        </p:txBody>
      </p:sp>
      <p:sp>
        <p:nvSpPr>
          <p:cNvPr id="26" name="TextBox"/>
          <p:cNvSpPr/>
          <p:nvPr/>
        </p:nvSpPr>
        <p:spPr>
          <a:xfrm>
            <a:off x="3556000" y="5033282"/>
            <a:ext cx="5080000" cy="1714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lIns="91440" tIns="54864" rIns="91440" bIns="54864"/>
          <a:lstStyle/>
          <a:p>
            <a:pPr algn="ctr"/>
            <a:r>
              <a:rPr lang="zh-CN" sz="1100" b="1">
                <a:solidFill>
                  <a:srgbClr val="334155"/>
                </a:solidFill>
                <a:latin typeface="Microsoft YaHei"/>
                <a:ea typeface="Microsoft YaHei"/>
              </a:rPr>
              <a:t>修正后路点 / target_speed_factor / lane_escape / 可解释风险信号</a:t>
            </a:r>
            <a:endParaRPr lang="zh-CN" sz="1100"/>
          </a:p>
        </p:txBody>
      </p:sp>
      <p:sp>
        <p:nvSpPr>
          <p:cNvPr id="27" name="协同输入不只看自车"/>
          <p:cNvSpPr/>
          <p:nvPr/>
        </p:nvSpPr>
        <p:spPr>
          <a:xfrm>
            <a:off x="711200" y="1653268"/>
            <a:ext cx="1591733" cy="722539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28" name="TextBox"/>
          <p:cNvSpPr/>
          <p:nvPr/>
        </p:nvSpPr>
        <p:spPr>
          <a:xfrm>
            <a:off x="887307" y="1800225"/>
            <a:ext cx="1280160" cy="14695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FF6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协同输入不只看自车</a:t>
            </a:r>
            <a:endParaRPr lang="zh-CN" sz="1200"/>
          </a:p>
        </p:txBody>
      </p:sp>
      <p:sp>
        <p:nvSpPr>
          <p:cNvPr id="29" name="TextBox"/>
          <p:cNvSpPr/>
          <p:nvPr/>
        </p:nvSpPr>
        <p:spPr>
          <a:xfrm>
            <a:off x="887307" y="2002291"/>
            <a:ext cx="1280160" cy="306161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FF6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V2X-only 与可见性标记</a:t>
            </a:r>
            <a:endParaRPr lang="zh-CN" sz="900"/>
          </a:p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进入同一约束计算</a:t>
            </a:r>
            <a:endParaRPr lang="zh-CN" sz="900"/>
          </a:p>
        </p:txBody>
      </p:sp>
      <p:sp>
        <p:nvSpPr>
          <p:cNvPr id="30" name="Arrow"/>
          <p:cNvSpPr/>
          <p:nvPr/>
        </p:nvSpPr>
        <p:spPr>
          <a:xfrm>
            <a:off x="2302933" y="2014538"/>
            <a:ext cx="474133" cy="6123"/>
          </a:xfrm>
          <a:prstGeom prst="line">
            <a:avLst/>
          </a:prstGeom>
          <a:ln w="22860">
            <a:solidFill>
              <a:srgbClr val="2563EB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1" name="创新点一：动态安全区间"/>
          <p:cNvSpPr/>
          <p:nvPr/>
        </p:nvSpPr>
        <p:spPr>
          <a:xfrm>
            <a:off x="711200" y="2694214"/>
            <a:ext cx="1591733" cy="808264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32" name="TextBox"/>
          <p:cNvSpPr/>
          <p:nvPr/>
        </p:nvSpPr>
        <p:spPr>
          <a:xfrm>
            <a:off x="887307" y="2841171"/>
            <a:ext cx="1280160" cy="146957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F7ED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创新点一：动态安全区间</a:t>
            </a:r>
            <a:endParaRPr lang="zh-CN" sz="1200"/>
          </a:p>
        </p:txBody>
      </p:sp>
      <p:sp>
        <p:nvSpPr>
          <p:cNvPr id="33" name="TextBox"/>
          <p:cNvSpPr/>
          <p:nvPr/>
        </p:nvSpPr>
        <p:spPr>
          <a:xfrm>
            <a:off x="887307" y="3043238"/>
            <a:ext cx="1280160" cy="306161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F7ED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2.5m / 4.0m 自适应边界</a:t>
            </a:r>
            <a:endParaRPr lang="zh-CN" sz="900"/>
          </a:p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接近越快，约束越强</a:t>
            </a:r>
            <a:endParaRPr lang="zh-CN" sz="900"/>
          </a:p>
        </p:txBody>
      </p:sp>
      <p:sp>
        <p:nvSpPr>
          <p:cNvPr id="34" name="Arrow"/>
          <p:cNvSpPr/>
          <p:nvPr/>
        </p:nvSpPr>
        <p:spPr>
          <a:xfrm flipV="1">
            <a:off x="2302933" y="2718707"/>
            <a:ext cx="880533" cy="379639"/>
          </a:xfrm>
          <a:prstGeom prst="line">
            <a:avLst/>
          </a:prstGeom>
          <a:ln w="22860">
            <a:solidFill>
              <a:srgbClr val="EA580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5" name="创新点二：低误报触发"/>
          <p:cNvSpPr/>
          <p:nvPr/>
        </p:nvSpPr>
        <p:spPr>
          <a:xfrm>
            <a:off x="9889067" y="2357438"/>
            <a:ext cx="1693333" cy="808264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36" name="TextBox"/>
          <p:cNvSpPr/>
          <p:nvPr/>
        </p:nvSpPr>
        <p:spPr>
          <a:xfrm>
            <a:off x="10065173" y="2504395"/>
            <a:ext cx="1381760" cy="146957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F5F3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创新点二：低误报触发</a:t>
            </a:r>
            <a:endParaRPr lang="zh-CN" sz="1200"/>
          </a:p>
        </p:txBody>
      </p:sp>
      <p:sp>
        <p:nvSpPr>
          <p:cNvPr id="37" name="TextBox"/>
          <p:cNvSpPr/>
          <p:nvPr/>
        </p:nvSpPr>
        <p:spPr>
          <a:xfrm>
            <a:off x="10065173" y="2706461"/>
            <a:ext cx="1381760" cy="306161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F5F3FF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几何修正与检测解耦</a:t>
            </a:r>
            <a:endParaRPr lang="zh-CN" sz="900"/>
          </a:p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AND + front_ttc 覆盖</a:t>
            </a:r>
            <a:endParaRPr lang="zh-CN" sz="900"/>
          </a:p>
        </p:txBody>
      </p:sp>
      <p:sp>
        <p:nvSpPr>
          <p:cNvPr id="38" name="Arrow"/>
          <p:cNvSpPr/>
          <p:nvPr/>
        </p:nvSpPr>
        <p:spPr>
          <a:xfrm flipH="1" flipV="1">
            <a:off x="9008533" y="2718707"/>
            <a:ext cx="880533" cy="48986"/>
          </a:xfrm>
          <a:prstGeom prst="line">
            <a:avLst/>
          </a:prstGeom>
          <a:ln w="22860">
            <a:solidFill>
              <a:srgbClr val="7C3AED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9" name="创新点三：RearEscape"/>
          <p:cNvSpPr/>
          <p:nvPr/>
        </p:nvSpPr>
        <p:spPr>
          <a:xfrm>
            <a:off x="9889067" y="3429000"/>
            <a:ext cx="1693333" cy="887866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40" name="TextBox"/>
          <p:cNvSpPr/>
          <p:nvPr/>
        </p:nvSpPr>
        <p:spPr>
          <a:xfrm>
            <a:off x="10065173" y="3575957"/>
            <a:ext cx="1381760" cy="146957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CFDF5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创新点三：RearEscape</a:t>
            </a:r>
            <a:endParaRPr lang="zh-CN" sz="1200"/>
          </a:p>
        </p:txBody>
      </p:sp>
      <p:sp>
        <p:nvSpPr>
          <p:cNvPr id="41" name="TextBox"/>
          <p:cNvSpPr/>
          <p:nvPr/>
        </p:nvSpPr>
        <p:spPr>
          <a:xfrm>
            <a:off x="10065173" y="3778023"/>
            <a:ext cx="1381760" cy="306161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CFDF5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后方压力不等于急刹</a:t>
            </a:r>
            <a:endParaRPr lang="zh-CN" sz="900"/>
          </a:p>
          <a:p>
            <a:pPr algn="l"/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前方非立即碰撞时横向逃逸</a:t>
            </a:r>
            <a:endParaRPr lang="zh-CN" sz="900"/>
          </a:p>
        </p:txBody>
      </p:sp>
      <p:sp>
        <p:nvSpPr>
          <p:cNvPr id="42" name="Arrow"/>
          <p:cNvSpPr/>
          <p:nvPr/>
        </p:nvSpPr>
        <p:spPr>
          <a:xfrm flipH="1">
            <a:off x="7992533" y="3869871"/>
            <a:ext cx="1896533" cy="257175"/>
          </a:xfrm>
          <a:prstGeom prst="line">
            <a:avLst/>
          </a:prstGeom>
          <a:ln w="22860">
            <a:solidFill>
              <a:srgbClr val="059669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3" name="核心主张"/>
          <p:cNvSpPr/>
          <p:nvPr/>
        </p:nvSpPr>
        <p:spPr>
          <a:xfrm>
            <a:off x="4199467" y="5449661"/>
            <a:ext cx="3793067" cy="35514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94A3B8"/>
            </a:solidFill>
          </a:ln>
        </p:spPr>
        <p:txBody>
          <a:bodyPr wrap="square" lIns="91440" tIns="54864" rIns="91440" bIns="54864"/>
          <a:lstStyle/>
          <a:p/>
        </p:txBody>
      </p:sp>
      <p:sp>
        <p:nvSpPr>
          <p:cNvPr id="44" name="TextBox"/>
          <p:cNvSpPr/>
          <p:nvPr/>
        </p:nvSpPr>
        <p:spPr>
          <a:xfrm>
            <a:off x="4334933" y="5559879"/>
            <a:ext cx="3522133" cy="15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lIns="91440" tIns="54864" rIns="91440" bIns="54864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核心主张：把协同感知收敛为可执行安全约束，而不是只给风险分数</a:t>
            </a:r>
            <a:endParaRPr lang="zh-CN" sz="1100"/>
          </a:p>
        </p:txBody>
      </p:sp>
      <p:sp>
        <p:nvSpPr>
          <p:cNvPr id="45" name="TextBox"/>
          <p:cNvSpPr/>
          <p:nvPr/>
        </p:nvSpPr>
        <p:spPr>
          <a:xfrm>
            <a:off x="501227" y="6453868"/>
            <a:ext cx="9482667" cy="1592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8FAFC"/>
            </a:solidFill>
          </a:ln>
        </p:spPr>
        <p:txBody>
          <a:bodyPr wrap="square" lIns="91440" tIns="54864" rIns="91440" bIns="54864"/>
          <a:lstStyle/>
          <a:p>
            <a:pPr algn="l"/>
            <a:r>
              <a:rPr lang="zh-CN" sz="800" b="1">
                <a:solidFill>
                  <a:srgbClr val="475569"/>
                </a:solidFill>
                <a:latin typeface="Microsoft YaHei"/>
                <a:ea typeface="Microsoft YaHei"/>
              </a:rPr>
              <a:t>当前综合最优主线：Hybrid+AND+TTC+RearEscape-thr0.30；图中完整三层风险接口只作为扩展能力提示，不作为最优主路径。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able Framework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EA580C"/>
      </a:accent2>
      <a:accent3>
        <a:srgbClr val="7C3AED"/>
      </a:accent3>
      <a:accent4>
        <a:srgbClr val="059669"/>
      </a:accent4>
      <a:accent5>
        <a:srgbClr val="DC2626"/>
      </a:accent5>
      <a:accent6>
        <a:srgbClr val="94A3B8"/>
      </a:accent6>
      <a:hlink>
        <a:srgbClr val="2563EB"/>
      </a:hlink>
      <a:folHlink>
        <a:srgbClr val="7C3AED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SafeCoDriver Editable Framework</dc:title>
  <dc:creator>Codex</dc:creator>
</cp:coreProperties>
</file>